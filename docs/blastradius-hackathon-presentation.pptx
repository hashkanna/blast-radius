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267483f7543db" /><Relationship Type="http://schemas.openxmlformats.org/officeDocument/2006/relationships/extended-properties" Target="/docProps/app.xml" Id="Rbc569f5244a44057" /><Relationship Type="http://schemas.openxmlformats.org/officeDocument/2006/relationships/officeDocument" Target="/ppt/presentation.xml" Id="R8b577dbdfeaf4d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67b129a534841"/>
  </p:sldMasterIdLst>
  <p:notesMasterIdLst>
    <p:notesMasterId xmlns:r="http://schemas.openxmlformats.org/officeDocument/2006/relationships" r:id="R7ee31dc49a6c4652"/>
  </p:notesMasterIdLst>
  <p:sldIdLst>
    <p:sldId xmlns:r="http://schemas.openxmlformats.org/officeDocument/2006/relationships" id="256" r:id="R381a099fb4a84e38"/>
    <p:sldId xmlns:r="http://schemas.openxmlformats.org/officeDocument/2006/relationships" id="257" r:id="R07f90a586b9a477b"/>
    <p:sldId xmlns:r="http://schemas.openxmlformats.org/officeDocument/2006/relationships" id="258" r:id="R778a37a4c8d049dc"/>
    <p:sldId xmlns:r="http://schemas.openxmlformats.org/officeDocument/2006/relationships" id="259" r:id="R4ed039467f924a95"/>
    <p:sldId xmlns:r="http://schemas.openxmlformats.org/officeDocument/2006/relationships" id="260" r:id="R36f013675d9d46a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67b129a534841" /><Relationship Type="http://schemas.openxmlformats.org/officeDocument/2006/relationships/theme" Target="/ppt/theme/theme1.xml" Id="Rc5dc2923d7f047e0" /><Relationship Type="http://schemas.openxmlformats.org/officeDocument/2006/relationships/notesMaster" Target="/ppt/notesMasters/notesMaster1.xml" Id="R7ee31dc49a6c4652" /><Relationship Type="http://schemas.openxmlformats.org/officeDocument/2006/relationships/presProps" Target="/ppt/presProps.xml" Id="R9a675241731541ea" /><Relationship Type="http://schemas.openxmlformats.org/officeDocument/2006/relationships/viewProps" Target="/ppt/viewProps.xml" Id="R4fc63c12bfb94895" /><Relationship Type="http://schemas.openxmlformats.org/officeDocument/2006/relationships/tableStyles" Target="/ppt/tableStyles.xml" Id="R25d19c10398b47a7" /><Relationship Type="http://schemas.openxmlformats.org/officeDocument/2006/relationships/slide" Target="/ppt/slides/slide1.xml" Id="R381a099fb4a84e38" /><Relationship Type="http://schemas.openxmlformats.org/officeDocument/2006/relationships/slide" Target="/ppt/slides/slide2.xml" Id="R07f90a586b9a477b" /><Relationship Type="http://schemas.openxmlformats.org/officeDocument/2006/relationships/slide" Target="/ppt/slides/slide3.xml" Id="R778a37a4c8d049dc" /><Relationship Type="http://schemas.openxmlformats.org/officeDocument/2006/relationships/slide" Target="/ppt/slides/slide4.xml" Id="R4ed039467f924a95" /><Relationship Type="http://schemas.openxmlformats.org/officeDocument/2006/relationships/slide" Target="/ppt/slides/slide5.xml" Id="R36f013675d9d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ac111c9a6446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4d69c4111b4ee5" /><Relationship Type="http://schemas.openxmlformats.org/officeDocument/2006/relationships/notesMaster" Target="/ppt/notesMasters/notesMaster1.xml" Id="R0c4c51baf80141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39a6202d6b4441" /><Relationship Type="http://schemas.openxmlformats.org/officeDocument/2006/relationships/notesMaster" Target="/ppt/notesMasters/notesMaster1.xml" Id="R37a673c6b605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1ad639a4f540b2" /><Relationship Type="http://schemas.openxmlformats.org/officeDocument/2006/relationships/notesMaster" Target="/ppt/notesMasters/notesMaster1.xml" Id="R99fa3003d68f4f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a15bcd4724de0" /><Relationship Type="http://schemas.openxmlformats.org/officeDocument/2006/relationships/notesMaster" Target="/ppt/notesMasters/notesMaster1.xml" Id="Re402277b07c147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6203bcaf34649" /><Relationship Type="http://schemas.openxmlformats.org/officeDocument/2006/relationships/notesMaster" Target="/ppt/notesMasters/notesMaster1.xml" Id="R77c26989124a4c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7dceb94ad429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233417ebb534fc2" /><Relationship Type="http://schemas.openxmlformats.org/officeDocument/2006/relationships/slideLayout" Target="/ppt/slideLayouts/slideLayout2.xml" Id="R62d8200c68e1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d8200c68e1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57f8941db4d71" /><Relationship Type="http://schemas.openxmlformats.org/officeDocument/2006/relationships/notesSlide" Target="/ppt/notesSlides/notesSlide1.xml" Id="R12290026283d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34fdf81004b86" /><Relationship Type="http://schemas.openxmlformats.org/officeDocument/2006/relationships/notesSlide" Target="/ppt/notesSlides/notesSlide2.xml" Id="Rad593351966641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01fc1126ab4564" /><Relationship Type="http://schemas.openxmlformats.org/officeDocument/2006/relationships/notesSlide" Target="/ppt/notesSlides/notesSlide3.xml" Id="R3d1c420b6a9c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e21a0284f54d4b" /><Relationship Type="http://schemas.openxmlformats.org/officeDocument/2006/relationships/notesSlide" Target="/ppt/notesSlides/notesSlide4.xml" Id="Rcc1e8ce256c543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b4401625d4239" /><Relationship Type="http://schemas.openxmlformats.org/officeDocument/2006/relationships/notesSlide" Target="/ppt/notesSlides/notesSlide5.xml" Id="R056be47114194d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5519065-EF60-42C6-9C4A-09944679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81534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</a:defRPr>
            </a:pPr>
            <a:r>
              <a:rPr sz="7800" b="1">
                <a:solidFill>
                  <a:srgbClr val="FFFFFF"/>
                </a:solidFill>
              </a:rPr>
              <a:t>BlastRadius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84B77-04AB-40B7-8940-6AA1BEE6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7029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C8D4E3"/>
                </a:solidFill>
              </a:defRPr>
            </a:pPr>
            <a:r>
              <a:rPr sz="2550">
                <a:solidFill>
                  <a:srgbClr val="C8D4E3"/>
                </a:solidFill>
              </a:rPr>
              <a:t>Hidden-lineage incident diagnosis for agentic 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42C55-7028-4B70-8C2D-F4EC7A98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531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pill-openreward">
            <a:extLst xmlns:a="http://schemas.openxmlformats.org/drawingml/2006/main">
              <a:ext uri="{FF2B5EF4-FFF2-40B4-BE49-F238E27FC236}">
                <a16:creationId xmlns:a16="http://schemas.microsoft.com/office/drawing/2014/main" id="{5746A7F5-A197-4587-A10F-8E36E8DB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832991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pill-dot">
            <a:extLst xmlns:a="http://schemas.openxmlformats.org/drawingml/2006/main">
              <a:ext uri="{FF2B5EF4-FFF2-40B4-BE49-F238E27FC236}">
                <a16:creationId xmlns:a16="http://schemas.microsoft.com/office/drawing/2014/main" id="{21BE4B00-C86B-493E-9001-ED0A5FD6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30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464C2-C33A-47E2-B7D2-1FC68802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72200"/>
            <a:ext cx="1181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1821"/>
                </a:solidFill>
              </a:defRPr>
            </a:pPr>
            <a:r>
              <a:rPr sz="1500" b="1">
                <a:solidFill>
                  <a:srgbClr val="121821"/>
                </a:solidFill>
              </a:rPr>
              <a:t>OpenReward</a:t>
            </a:r>
          </a:p>
        </p:txBody>
      </p:sp>
      <p:sp>
        <p:nvSpPr>
          <p:cNvPr id="7" name="pill-ors-server">
            <a:extLst xmlns:a="http://schemas.openxmlformats.org/drawingml/2006/main">
              <a:ext uri="{FF2B5EF4-FFF2-40B4-BE49-F238E27FC236}">
                <a16:creationId xmlns:a16="http://schemas.microsoft.com/office/drawing/2014/main" id="{C603C5DB-82A0-49DB-BCE9-208EEE9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991" y="6057900"/>
            <a:ext cx="167830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pill-dot">
            <a:extLst xmlns:a="http://schemas.openxmlformats.org/drawingml/2006/main">
              <a:ext uri="{FF2B5EF4-FFF2-40B4-BE49-F238E27FC236}">
                <a16:creationId xmlns:a16="http://schemas.microsoft.com/office/drawing/2014/main" id="{FF9F573D-93E8-4500-82A9-2CB25EE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21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F6581-8F4B-458B-AD23-198AEDD2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722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1821"/>
                </a:solidFill>
              </a:defRPr>
            </a:pPr>
            <a:r>
              <a:rPr sz="1500" b="1">
                <a:solidFill>
                  <a:srgbClr val="121821"/>
                </a:solidFill>
              </a:rPr>
              <a:t>ORS server</a:t>
            </a:r>
          </a:p>
        </p:txBody>
      </p:sp>
      <p:sp>
        <p:nvSpPr>
          <p:cNvPr id="10" name="pill-docker-ready">
            <a:extLst xmlns:a="http://schemas.openxmlformats.org/drawingml/2006/main">
              <a:ext uri="{FF2B5EF4-FFF2-40B4-BE49-F238E27FC236}">
                <a16:creationId xmlns:a16="http://schemas.microsoft.com/office/drawing/2014/main" id="{CB4AFB95-76C9-49F2-99B5-019A6E2A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96" y="6057900"/>
            <a:ext cx="1879092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pill-dot">
            <a:extLst xmlns:a="http://schemas.openxmlformats.org/drawingml/2006/main">
              <a:ext uri="{FF2B5EF4-FFF2-40B4-BE49-F238E27FC236}">
                <a16:creationId xmlns:a16="http://schemas.microsoft.com/office/drawing/2014/main" id="{B82B9BD6-BE23-4206-A3FA-BBC4C1A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1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76384-BE2E-4D9C-A568-BDF60CD6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722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1821"/>
                </a:solidFill>
              </a:defRPr>
            </a:pPr>
            <a:r>
              <a:rPr sz="1500" b="1">
                <a:solidFill>
                  <a:srgbClr val="121821"/>
                </a:solidFill>
              </a:rPr>
              <a:t>Docker-ready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B586B-7F5F-4150-B557-890AB7B5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52850"/>
            <a:ext cx="7391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The agent sees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2BF38-E2B3-46B8-810B-7DA64A6D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5770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C8D4E3"/>
                </a:solidFill>
              </a:defRPr>
            </a:pPr>
            <a:r>
              <a:rPr sz="2400">
                <a:solidFill>
                  <a:srgbClr val="C8D4E3"/>
                </a:solidFill>
              </a:rPr>
              <a:t>The reward asks whether it inferred the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1B96F-E6A3-48B1-8A06-897BE712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62550"/>
            <a:ext cx="739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D97E9-A9C2-4C64-BE4F-3F8CE574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14950"/>
            <a:ext cx="3000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raw.orders_api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808EF-D3F7-413D-B8A9-F10A4A5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4102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8062B-5903-4944-9C1E-2B3B143B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314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dashboard.revenue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DB381-E517-4C9F-86DA-23B9C66C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57850"/>
            <a:ext cx="3000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mart.marketing_roi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94061-C89C-4D75-8333-9B945771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13AFF-FC69-4B5F-9A15-C7802E12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6578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cloud cost spike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3C22F-0771-4E2A-88F8-C220D09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3000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partial lineage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BC8F5-00A7-4865-A85E-59BCC72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0960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9B2E7-C06A-447A-BF6D-2840B559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60007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delayed reward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BC2DD-51C8-403A-9B35-B7ADFB3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43650"/>
            <a:ext cx="739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1378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5C19BBB-BF09-4418-8F37-E863CE1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7067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21821"/>
                </a:solidFill>
              </a:defRPr>
            </a:pPr>
            <a:r>
              <a:rPr sz="4650" b="1">
                <a:solidFill>
                  <a:srgbClr val="121821"/>
                </a:solidFill>
              </a:rPr>
              <a:t>Not an alert-routing task.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9DFD6-7520-4ACE-842B-AF03E644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10687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563"/>
                </a:solidFill>
              </a:defRPr>
            </a:pPr>
            <a:r>
              <a:rPr sz="2100">
                <a:solidFill>
                  <a:srgbClr val="4B5563"/>
                </a:solidFill>
              </a:rPr>
              <a:t>BlastRadius scores whether an agent can infer the hidden causal graph while the platform keeps changing.</a:t>
            </a:r>
          </a:p>
        </p:txBody>
      </p:sp>
      <p:sp>
        <p:nvSpPr>
          <p:cNvPr id="3" name="row-dot">
            <a:extLst xmlns:a="http://schemas.openxmlformats.org/drawingml/2006/main">
              <a:ext uri="{FF2B5EF4-FFF2-40B4-BE49-F238E27FC236}">
                <a16:creationId xmlns:a16="http://schemas.microsoft.com/office/drawing/2014/main" id="{66BF454B-FE9A-4B74-83F6-A54C15C8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DBCD0-000E-43C6-89E2-DC25E030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1"/>
                </a:solidFill>
              </a:defRPr>
            </a:pPr>
            <a:r>
              <a:rPr sz="2100" b="1">
                <a:solidFill>
                  <a:srgbClr val="121821"/>
                </a:solidFill>
              </a:rPr>
              <a:t>Partial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B66D-2004-4437-87FA-39C52078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2628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Logs, samples, schemas, job history, and query plans each reveal only part of the incident.</a:t>
            </a:r>
          </a:p>
        </p:txBody>
      </p:sp>
      <p:sp>
        <p:nvSpPr>
          <p:cNvPr id="6" name="row-dot">
            <a:extLst xmlns:a="http://schemas.openxmlformats.org/drawingml/2006/main">
              <a:ext uri="{FF2B5EF4-FFF2-40B4-BE49-F238E27FC236}">
                <a16:creationId xmlns:a16="http://schemas.microsoft.com/office/drawing/2014/main" id="{B1F9E654-77C0-42D1-98F5-3D5CFEA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DAA4A-42C9-4269-986A-9A42812D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245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1"/>
                </a:solidFill>
              </a:defRPr>
            </a:pPr>
            <a:r>
              <a:rPr sz="2100" b="1">
                <a:solidFill>
                  <a:srgbClr val="121821"/>
                </a:solidFill>
              </a:rPr>
              <a:t>Non-stationarity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A489A-E373-4A5E-9831-BE740116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2628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Hidden incidents fire during the episode, so a static diagnosis is not enough.</a:t>
            </a:r>
          </a:p>
        </p:txBody>
      </p:sp>
      <p:sp>
        <p:nvSpPr>
          <p:cNvPr id="9" name="row-dot">
            <a:extLst xmlns:a="http://schemas.openxmlformats.org/drawingml/2006/main">
              <a:ext uri="{FF2B5EF4-FFF2-40B4-BE49-F238E27FC236}">
                <a16:creationId xmlns:a16="http://schemas.microsoft.com/office/drawing/2014/main" id="{D5D6216E-1D33-4C07-B419-FFAF156F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1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5A7F5-F323-4D32-99FE-34F948B6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437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1"/>
                </a:solidFill>
              </a:defRPr>
            </a:pPr>
            <a:r>
              <a:rPr sz="2100" b="1">
                <a:solidFill>
                  <a:srgbClr val="121821"/>
                </a:solidFill>
              </a:rPr>
              <a:t>Root cause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C141D-96CE-4429-8C37-4CFC2FA6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838950"/>
            <a:ext cx="2628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Symptom-only fixes can make a dashboard look better while leaving reward on the floor.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9F4D9-D59D-4DCA-884D-74BA951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90900"/>
            <a:ext cx="7820025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01335-A073-43D4-B8A3-9DA8D3A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76750"/>
            <a:ext cx="7029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F4444"/>
                </a:solidFill>
              </a:defRPr>
            </a:pPr>
            <a:r>
              <a:rPr sz="1500" b="1">
                <a:solidFill>
                  <a:srgbClr val="EF4444"/>
                </a:solidFill>
              </a:rPr>
              <a:t>CANONICAL FAILURE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8F669-7160-43B5-9719-DBFE9FB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33950"/>
            <a:ext cx="70294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821"/>
                </a:solidFill>
              </a:defRPr>
            </a:pPr>
            <a:r>
              <a:rPr sz="3450" b="1">
                <a:solidFill>
                  <a:srgbClr val="121821"/>
                </a:solidFill>
              </a:rPr>
              <a:t>A competent agent should resist the obvious dashboard fix.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EF5FA-EB83-496F-B4A8-8D2D1865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76950"/>
            <a:ext cx="7029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B5563"/>
                </a:solidFill>
              </a:defRPr>
            </a:pPr>
            <a:r>
              <a:rPr sz="2025">
                <a:solidFill>
                  <a:srgbClr val="4B5563"/>
                </a:solidFill>
              </a:rPr>
              <a:t>The naive baseline repeatedly treats leaf symptoms. It terminates early with both incidents unresolved.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DD4E2-93DD-4021-BFAB-54FC486C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877050"/>
            <a:ext cx="2190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F4444"/>
                </a:solidFill>
              </a:defRPr>
            </a:pPr>
            <a:r>
              <a:rPr sz="4200" b="1">
                <a:solidFill>
                  <a:srgbClr val="EF4444"/>
                </a:solidFill>
              </a:rPr>
              <a:t>-164.9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DBEA4-5DA4-4F5E-B5DC-D3AE4A1A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6760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baseline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0FF8E-CF82-41B1-8C73-B4E7640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77050"/>
            <a:ext cx="2190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F4444"/>
                </a:solidFill>
              </a:defRPr>
            </a:pPr>
            <a:r>
              <a:rPr sz="4200" b="1">
                <a:solidFill>
                  <a:srgbClr val="EF4444"/>
                </a:solidFill>
              </a:rPr>
              <a:t>0 /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F79B4-E330-41E0-81F0-148E021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746760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incidents fixed</a:t>
            </a:r>
          </a:p>
        </p:txBody>
      </p:sp>
    </p:spTree>
    <p:extLst>
      <p:ext uri="{BB962C8B-B14F-4D97-AF65-F5344CB8AC3E}">
        <p14:creationId xmlns:p14="http://schemas.microsoft.com/office/powerpoint/2010/main" val="1174895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282D989-83EE-4582-A06D-01AED6FB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428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821"/>
                </a:solidFill>
              </a:defRPr>
            </a:pPr>
            <a:r>
              <a:rPr sz="4050" b="1">
                <a:solidFill>
                  <a:srgbClr val="121821"/>
                </a:solidFill>
              </a:rPr>
              <a:t>The v1 substrate is small enough to verify, but rich enough to reason over.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8BEDD7-0087-4111-AB21-D867C5D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2706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563"/>
                </a:solidFill>
              </a:defRPr>
            </a:pPr>
            <a:r>
              <a:rPr sz="2100">
                <a:solidFill>
                  <a:srgbClr val="4B5563"/>
                </a:solidFill>
              </a:rPr>
              <a:t>Eight deterministic nodes, two hidden incidents, eleven operational tools, reward emitted as deltas per tool call.</a:t>
            </a:r>
          </a:p>
        </p:txBody>
      </p:sp>
      <p:sp>
        <p:nvSpPr>
          <p:cNvPr id="3" name="node-raw-orders-api">
            <a:extLst xmlns:a="http://schemas.openxmlformats.org/drawingml/2006/main">
              <a:ext uri="{FF2B5EF4-FFF2-40B4-BE49-F238E27FC236}">
                <a16:creationId xmlns:a16="http://schemas.microsoft.com/office/drawing/2014/main" id="{54B78F0E-699A-415C-8230-4D35C638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" name="node-accent">
            <a:extLst xmlns:a="http://schemas.openxmlformats.org/drawingml/2006/main">
              <a:ext uri="{FF2B5EF4-FFF2-40B4-BE49-F238E27FC236}">
                <a16:creationId xmlns:a16="http://schemas.microsoft.com/office/drawing/2014/main" id="{76479D70-BA5D-4581-B036-4F2E2AEC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BCF3F-423D-4B7C-9039-4F685407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raw.orders_api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8AC25-441C-47EE-A291-6D20C05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1752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schema drift</a:t>
            </a:r>
          </a:p>
        </p:txBody>
      </p:sp>
      <p:sp>
        <p:nvSpPr>
          <p:cNvPr id="7" name="node-raw-ad-spend">
            <a:extLst xmlns:a="http://schemas.openxmlformats.org/drawingml/2006/main">
              <a:ext uri="{FF2B5EF4-FFF2-40B4-BE49-F238E27FC236}">
                <a16:creationId xmlns:a16="http://schemas.microsoft.com/office/drawing/2014/main" id="{2DF03949-636A-425C-86D2-54098F40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780" y="27813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node-accent">
            <a:extLst xmlns:a="http://schemas.openxmlformats.org/drawingml/2006/main">
              <a:ext uri="{FF2B5EF4-FFF2-40B4-BE49-F238E27FC236}">
                <a16:creationId xmlns:a16="http://schemas.microsoft.com/office/drawing/2014/main" id="{8FF7F397-39A2-4C17-B1E2-14265D03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2609F-63CF-4EFA-B0EA-275A1F28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raw.ad_spend</a:t>
            </a:r>
          </a:p>
        </p:txBody>
      </p:sp>
      <p:sp>
        <p:nvSpPr>
          <p:cNvPr id="10" name="node-raw-web-events">
            <a:extLst xmlns:a="http://schemas.openxmlformats.org/drawingml/2006/main">
              <a:ext uri="{FF2B5EF4-FFF2-40B4-BE49-F238E27FC236}">
                <a16:creationId xmlns:a16="http://schemas.microsoft.com/office/drawing/2014/main" id="{E2193946-BA42-4334-A9F2-A9D33694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960" y="27813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node-accent">
            <a:extLst xmlns:a="http://schemas.openxmlformats.org/drawingml/2006/main">
              <a:ext uri="{FF2B5EF4-FFF2-40B4-BE49-F238E27FC236}">
                <a16:creationId xmlns:a16="http://schemas.microsoft.com/office/drawing/2014/main" id="{0CC6385E-3914-463E-97EA-6F57303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2BA7A-4FE9-4C9B-80C2-176FFEF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raw.web_events</a:t>
            </a:r>
          </a:p>
        </p:txBody>
      </p:sp>
      <p:sp>
        <p:nvSpPr>
          <p:cNvPr id="13" name="node-stg-orders">
            <a:extLst xmlns:a="http://schemas.openxmlformats.org/drawingml/2006/main">
              <a:ext uri="{FF2B5EF4-FFF2-40B4-BE49-F238E27FC236}">
                <a16:creationId xmlns:a16="http://schemas.microsoft.com/office/drawing/2014/main" id="{373F0898-0B00-43C8-A9D4-DAD1C91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140" y="27813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node-accent">
            <a:extLst xmlns:a="http://schemas.openxmlformats.org/drawingml/2006/main">
              <a:ext uri="{FF2B5EF4-FFF2-40B4-BE49-F238E27FC236}">
                <a16:creationId xmlns:a16="http://schemas.microsoft.com/office/drawing/2014/main" id="{0304D39E-4C23-4834-B639-9077519C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AA13B-F06F-4263-AB21-185DCC52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stg.orders</a:t>
            </a:r>
          </a:p>
        </p:txBody>
      </p:sp>
      <p:sp>
        <p:nvSpPr>
          <p:cNvPr id="16" name="node-stg-marketing">
            <a:extLst xmlns:a="http://schemas.openxmlformats.org/drawingml/2006/main">
              <a:ext uri="{FF2B5EF4-FFF2-40B4-BE49-F238E27FC236}">
                <a16:creationId xmlns:a16="http://schemas.microsoft.com/office/drawing/2014/main" id="{8B5289AE-66BF-471D-B0D5-A4D85D6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node-accent">
            <a:extLst xmlns:a="http://schemas.openxmlformats.org/drawingml/2006/main">
              <a:ext uri="{FF2B5EF4-FFF2-40B4-BE49-F238E27FC236}">
                <a16:creationId xmlns:a16="http://schemas.microsoft.com/office/drawing/2014/main" id="{756BC849-7E61-4539-ADE0-D6CD001D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B05A7-23CF-472C-95D7-D2093977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stg.marketing</a:t>
            </a:r>
          </a:p>
        </p:txBody>
      </p:sp>
      <p:sp>
        <p:nvSpPr>
          <p:cNvPr id="19" name="node-mart-revenue">
            <a:extLst xmlns:a="http://schemas.openxmlformats.org/drawingml/2006/main">
              <a:ext uri="{FF2B5EF4-FFF2-40B4-BE49-F238E27FC236}">
                <a16:creationId xmlns:a16="http://schemas.microsoft.com/office/drawing/2014/main" id="{51BD87C5-0B1F-4A83-AA33-528268B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780" y="52959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node-accent">
            <a:extLst xmlns:a="http://schemas.openxmlformats.org/drawingml/2006/main">
              <a:ext uri="{FF2B5EF4-FFF2-40B4-BE49-F238E27FC236}">
                <a16:creationId xmlns:a16="http://schemas.microsoft.com/office/drawing/2014/main" id="{AC809072-1740-4E8F-AA3D-1FA71654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483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D1ED4-13E2-4662-A762-AED5634D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816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mart.revenue</a:t>
            </a:r>
          </a:p>
        </p:txBody>
      </p:sp>
      <p:sp>
        <p:nvSpPr>
          <p:cNvPr id="22" name="node-mart-marketing-roi">
            <a:extLst xmlns:a="http://schemas.openxmlformats.org/drawingml/2006/main">
              <a:ext uri="{FF2B5EF4-FFF2-40B4-BE49-F238E27FC236}">
                <a16:creationId xmlns:a16="http://schemas.microsoft.com/office/drawing/2014/main" id="{77FB49D5-5F69-4841-92F6-6607AB3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960" y="52959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node-accent">
            <a:extLst xmlns:a="http://schemas.openxmlformats.org/drawingml/2006/main">
              <a:ext uri="{FF2B5EF4-FFF2-40B4-BE49-F238E27FC236}">
                <a16:creationId xmlns:a16="http://schemas.microsoft.com/office/drawing/2014/main" id="{5DA1F24A-8580-4BD5-8FB5-CEB4AD7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483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30B57-91D1-4747-8B72-AAD710B7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mart.marketing_roi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ED3E8-BDBB-4EC6-A305-9D98D46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67400"/>
            <a:ext cx="1752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cost explosion</a:t>
            </a:r>
          </a:p>
        </p:txBody>
      </p:sp>
      <p:sp>
        <p:nvSpPr>
          <p:cNvPr id="26" name="node-dashboard-exec">
            <a:extLst xmlns:a="http://schemas.openxmlformats.org/drawingml/2006/main">
              <a:ext uri="{FF2B5EF4-FFF2-40B4-BE49-F238E27FC236}">
                <a16:creationId xmlns:a16="http://schemas.microsoft.com/office/drawing/2014/main" id="{6B04CD44-1947-46BB-8E75-29F30319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140" y="5295900"/>
            <a:ext cx="230873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7" name="node-accent">
            <a:extLst xmlns:a="http://schemas.openxmlformats.org/drawingml/2006/main">
              <a:ext uri="{FF2B5EF4-FFF2-40B4-BE49-F238E27FC236}">
                <a16:creationId xmlns:a16="http://schemas.microsoft.com/office/drawing/2014/main" id="{892AE17E-29A0-485A-9DE3-A00BE242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483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C2ACA-CBC5-427F-B8F3-2AF6BEA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8640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dashboard.exec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70A0E-0984-4761-95C6-D4BA5BC3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53100"/>
            <a:ext cx="1752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leaf SLA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C7378-3B41-4816-BABB-AACEFF55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97536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Lineage is discovered through tools, not handed to the agent.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D78FF-82E7-4C75-A77A-0F008BBD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970" y="2781300"/>
            <a:ext cx="6138430" cy="6800850"/>
          </a:xfrm>
          <a:prstGeom xmlns:a="http://schemas.openxmlformats.org/drawingml/2006/main" prst="roundRect">
            <a:avLst>
              <a:gd name="adj" fmla="val 1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B4FA0B-8BF8-4B60-AF24-13354272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105150"/>
            <a:ext cx="548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TOOL SURFACE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9FB44-898B-4250-8165-96E651F8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524250"/>
            <a:ext cx="5486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1821"/>
                </a:solidFill>
              </a:defRPr>
            </a:pPr>
            <a:r>
              <a:rPr sz="4350" b="1">
                <a:solidFill>
                  <a:srgbClr val="121821"/>
                </a:solidFill>
              </a:rPr>
              <a:t>11 tools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0CF0C-6CBD-4243-9261-49BE3BEC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305300"/>
            <a:ext cx="5486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Schemas, samples, logs, lineage traces, tests, fixes, and wait actions each carry cost and latency.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A1A50D-5164-4924-A723-9301B79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991100"/>
            <a:ext cx="548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533EA3-9E1D-4E05-A1DB-60021FC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238750"/>
            <a:ext cx="548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EPISODE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180C7A-8530-47ED-AE46-A01A1B97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657850"/>
            <a:ext cx="548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1821"/>
                </a:solidFill>
              </a:defRPr>
            </a:pPr>
            <a:r>
              <a:rPr sz="3150" b="1">
                <a:solidFill>
                  <a:srgbClr val="121821"/>
                </a:solidFill>
              </a:rPr>
              <a:t>tick 0 -&gt; 250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0B441-237C-46C2-85F0-AD20BD64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286500"/>
            <a:ext cx="548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TASKS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6EBB13-A6A5-42C9-84EE-5178F47E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705600"/>
            <a:ext cx="548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821"/>
                </a:solidFill>
              </a:defRPr>
            </a:pPr>
            <a:r>
              <a:rPr sz="2700" b="1">
                <a:solidFill>
                  <a:srgbClr val="121821"/>
                </a:solidFill>
              </a:rPr>
              <a:t>80 train / 20 eval seeds</a:t>
            </a:r>
          </a:p>
        </p:txBody>
      </p:sp>
    </p:spTree>
    <p:extLst>
      <p:ext uri="{BB962C8B-B14F-4D97-AF65-F5344CB8AC3E}">
        <p14:creationId xmlns:p14="http://schemas.microsoft.com/office/powerpoint/2010/main" val="1220447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35236B5-A2C9-4A42-B0AF-5C6E15D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13639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821"/>
                </a:solidFill>
              </a:defRPr>
            </a:pPr>
            <a:r>
              <a:rPr sz="4050" b="1">
                <a:solidFill>
                  <a:srgbClr val="121821"/>
                </a:solidFill>
              </a:rPr>
              <a:t>The calibration trace separates symptom patching from causal repair.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71DA9D-3ADD-48C1-9E33-0AAAE90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1868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563"/>
                </a:solidFill>
              </a:defRPr>
            </a:pPr>
            <a:r>
              <a:rPr sz="2100">
                <a:solidFill>
                  <a:srgbClr val="4B5563"/>
                </a:solidFill>
              </a:rPr>
              <a:t>Seed 0 gives a compact demo: same environment, same hidden incidents, different policy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6727D-E789-4AAD-8B96-464818E6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8281035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6B52C-B00D-4E3C-AE9D-83B1685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SCORE BY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44792-A617-4CB1-B09F-980C242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340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Naive baseline</a:t>
            </a:r>
          </a:p>
        </p:txBody>
      </p:sp>
      <p:sp>
        <p:nvSpPr>
          <p:cNvPr id="6" name="score-bar-spacer">
            <a:extLst xmlns:a="http://schemas.openxmlformats.org/drawingml/2006/main">
              <a:ext uri="{FF2B5EF4-FFF2-40B4-BE49-F238E27FC236}">
                <a16:creationId xmlns:a16="http://schemas.microsoft.com/office/drawing/2014/main" id="{4058CACB-FF92-4DC6-9D04-6BB5F9E3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38800"/>
            <a:ext cx="38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7" name="naive-baseline-bar">
            <a:extLst xmlns:a="http://schemas.openxmlformats.org/drawingml/2006/main">
              <a:ext uri="{FF2B5EF4-FFF2-40B4-BE49-F238E27FC236}">
                <a16:creationId xmlns:a16="http://schemas.microsoft.com/office/drawing/2014/main" id="{CFB2B9A9-3572-4D7E-A6FA-9D4131F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388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09DAB-733E-4A75-9CD2-5A951EF0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150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4444"/>
                </a:solidFill>
              </a:defRPr>
            </a:pPr>
            <a:r>
              <a:rPr sz="2100" b="1">
                <a:solidFill>
                  <a:srgbClr val="EF4444"/>
                </a:solidFill>
              </a:rPr>
              <a:t>-164.9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D4741-CD7C-4B4E-8629-693631B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821"/>
                </a:solidFill>
              </a:defRPr>
            </a:pPr>
            <a:r>
              <a:rPr sz="1800" b="1">
                <a:solidFill>
                  <a:srgbClr val="121821"/>
                </a:solidFill>
              </a:rPr>
              <a:t>Competent path</a:t>
            </a:r>
          </a:p>
        </p:txBody>
      </p:sp>
      <p:sp>
        <p:nvSpPr>
          <p:cNvPr id="10" name="competent-path-bar">
            <a:extLst xmlns:a="http://schemas.openxmlformats.org/drawingml/2006/main">
              <a:ext uri="{FF2B5EF4-FFF2-40B4-BE49-F238E27FC236}">
                <a16:creationId xmlns:a16="http://schemas.microsoft.com/office/drawing/2014/main" id="{1F218B39-7EAF-4ED6-A947-06F794D3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362700"/>
            <a:ext cx="323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1" name="score-bar-spacer">
            <a:extLst xmlns:a="http://schemas.openxmlformats.org/drawingml/2006/main">
              <a:ext uri="{FF2B5EF4-FFF2-40B4-BE49-F238E27FC236}">
                <a16:creationId xmlns:a16="http://schemas.microsoft.com/office/drawing/2014/main" id="{D06D5071-0535-4054-B927-931B13FA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32460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122AA-3D5F-4AE2-A652-FBAFBA85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4389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B981"/>
                </a:solidFill>
              </a:defRPr>
            </a:pPr>
            <a:r>
              <a:rPr sz="2100" b="1">
                <a:solidFill>
                  <a:srgbClr val="10B981"/>
                </a:solidFill>
              </a:rPr>
              <a:t>5.6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BF5D9-3670-4899-AC77-A2A477F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485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symptom patching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688FE-3375-464F-B72D-FF2A583B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628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4AD74-BD98-4545-B879-F0733A1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70485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causal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A9AB5-E643-48C2-9A8B-CB21B07E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035" y="4095750"/>
            <a:ext cx="3612832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B22A0-2ACF-46F7-B2BC-F68878B3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24350"/>
            <a:ext cx="3124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B981"/>
                </a:solidFill>
              </a:defRPr>
            </a:pPr>
            <a:r>
              <a:rPr sz="4350" b="1">
                <a:solidFill>
                  <a:srgbClr val="10B981"/>
                </a:solidFill>
              </a:rPr>
              <a:t>170.5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0499E-CC42-4A84-B79E-181ECF1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53000"/>
            <a:ext cx="3124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score delta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D2108-9907-4B6E-8A16-F7868B62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568" y="4095750"/>
            <a:ext cx="3612832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A2A70-BCDF-4B2A-94AD-3C63EF62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324350"/>
            <a:ext cx="3124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1821"/>
                </a:solidFill>
              </a:defRPr>
            </a:pPr>
            <a:r>
              <a:rPr sz="4350" b="1">
                <a:solidFill>
                  <a:srgbClr val="121821"/>
                </a:solidFill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11804-B97E-4504-B901-2C1854A3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953000"/>
            <a:ext cx="3124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scripted tool calls</a:t>
            </a:r>
          </a:p>
        </p:txBody>
      </p:sp>
      <p:sp>
        <p:nvSpPr>
          <p:cNvPr id="22" name="row-dot">
            <a:extLst xmlns:a="http://schemas.openxmlformats.org/drawingml/2006/main">
              <a:ext uri="{FF2B5EF4-FFF2-40B4-BE49-F238E27FC236}">
                <a16:creationId xmlns:a16="http://schemas.microsoft.com/office/drawing/2014/main" id="{F905AAEC-D807-4B1F-91D0-01A3CB89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285B4-C4C3-4605-BBD0-57EB412F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32460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1"/>
                </a:solidFill>
              </a:defRPr>
            </a:pPr>
            <a:r>
              <a:rPr sz="2100" b="1">
                <a:solidFill>
                  <a:srgbClr val="121821"/>
                </a:solidFill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01F60-A188-4CEE-96D7-D957210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6019800"/>
            <a:ext cx="2286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Wrong diagnosis at tick 85, no incidents resolved, fatal score collapse.</a:t>
            </a:r>
          </a:p>
        </p:txBody>
      </p:sp>
      <p:sp>
        <p:nvSpPr>
          <p:cNvPr id="25" name="row-dot">
            <a:extLst xmlns:a="http://schemas.openxmlformats.org/drawingml/2006/main">
              <a:ext uri="{FF2B5EF4-FFF2-40B4-BE49-F238E27FC236}">
                <a16:creationId xmlns:a16="http://schemas.microsoft.com/office/drawing/2014/main" id="{7524D68B-9495-4BEC-BBA5-058F0E8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696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FC0430-AA03-4516-8B54-696B218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62000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1"/>
                </a:solidFill>
              </a:defRPr>
            </a:pPr>
            <a:r>
              <a:rPr sz="2100" b="1">
                <a:solidFill>
                  <a:srgbClr val="121821"/>
                </a:solidFill>
              </a:rPr>
              <a:t>Competent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81455-A274-4CF5-8E69-8A435DA3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7200900"/>
            <a:ext cx="2286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Finds schema drift, verifies downstream health, fixes cost explosion, monitors to tick 250.</a:t>
            </a:r>
          </a:p>
        </p:txBody>
      </p:sp>
    </p:spTree>
    <p:extLst>
      <p:ext uri="{BB962C8B-B14F-4D97-AF65-F5344CB8AC3E}">
        <p14:creationId xmlns:p14="http://schemas.microsoft.com/office/powerpoint/2010/main" val="1135147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1D28580-7E89-4BEA-AE19-656DAF26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10553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1821"/>
                </a:solidFill>
              </a:defRPr>
            </a:pPr>
            <a:r>
              <a:rPr sz="4350" b="1">
                <a:solidFill>
                  <a:srgbClr val="121821"/>
                </a:solidFill>
              </a:rPr>
              <a:t>What the hackathon demo should show.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977BE8-192D-4A3E-A39F-658358B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7800"/>
            <a:ext cx="1181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563"/>
                </a:solidFill>
              </a:defRPr>
            </a:pPr>
            <a:r>
              <a:rPr sz="2100">
                <a:solidFill>
                  <a:srgbClr val="4B5563"/>
                </a:solidFill>
              </a:rPr>
              <a:t>A public OpenReward environment plus one model rollout is enough to tell the story in 2-3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11C1A-72B1-4088-BDD4-B85DF159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5257800" cy="67627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E354D-BE27-44D0-914C-4CE9EC6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461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25310-A787-4617-8973-86B335F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4610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821"/>
                </a:solidFill>
              </a:defRPr>
            </a:pPr>
            <a:r>
              <a:rPr sz="2850" b="1">
                <a:solidFill>
                  <a:srgbClr val="121821"/>
                </a:solidFill>
              </a:rPr>
              <a:t>OpenReward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2F29B-BEE6-4B5E-A3C2-76D4104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4610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B5563"/>
                </a:solidFill>
              </a:defRPr>
            </a:pPr>
            <a:r>
              <a:rPr sz="1875">
                <a:solidFill>
                  <a:srgbClr val="4B5563"/>
                </a:solidFill>
              </a:rPr>
              <a:t>Make the environment public, show the README card, and confirm train/eval splits plus the tool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57546-0DDA-4826-8A63-28F5DAC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5257800" cy="67627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7C5A7-CD2E-4C94-AC2A-FCCFD5B2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461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8E3F4-B981-468A-95E0-C9900B8E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4610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821"/>
                </a:solidFill>
              </a:defRPr>
            </a:pPr>
            <a:r>
              <a:rPr sz="2850" b="1">
                <a:solidFill>
                  <a:srgbClr val="121821"/>
                </a:solidFill>
              </a:rPr>
              <a:t>Model rollout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9EEBC-990F-4EA8-9C95-0FF3B058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90900"/>
            <a:ext cx="4610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B5563"/>
                </a:solidFill>
              </a:defRPr>
            </a:pPr>
            <a:r>
              <a:rPr sz="1875">
                <a:solidFill>
                  <a:srgbClr val="4B5563"/>
                </a:solidFill>
              </a:rPr>
              <a:t>Run GPT-5.5 or Opus 4.7 against seed 0 and compare its behavior to the scripted calibration.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FE797-27C7-4CB2-8FD0-E1AECF63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171700"/>
            <a:ext cx="5257800" cy="67627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875B9-8857-4673-8B64-4F03E5CB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95550"/>
            <a:ext cx="461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FD5ED-2105-4E2D-9BC9-6C21AEF5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57500"/>
            <a:ext cx="4610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821"/>
                </a:solidFill>
              </a:defRPr>
            </a:pPr>
            <a:r>
              <a:rPr sz="2850" b="1">
                <a:solidFill>
                  <a:srgbClr val="121821"/>
                </a:solidFill>
              </a:rPr>
              <a:t>Capability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8476B-CCE5-4918-8C57-9C0A7683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390900"/>
            <a:ext cx="4610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B5563"/>
                </a:solidFill>
              </a:defRPr>
            </a:pPr>
            <a:r>
              <a:rPr sz="1875">
                <a:solidFill>
                  <a:srgbClr val="4B5563"/>
                </a:solidFill>
              </a:rPr>
              <a:t>The key capability is causal diagnosis under partial observability, not just calling many tools.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0C236-A68E-4B0F-92B7-6131E3BD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391650"/>
            <a:ext cx="1630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Repo path: hashkanna/blast-radius  |  Docker image: OpenReward ORS server on port 8080</a:t>
            </a:r>
          </a:p>
        </p:txBody>
      </p:sp>
    </p:spTree>
    <p:extLst>
      <p:ext uri="{BB962C8B-B14F-4D97-AF65-F5344CB8AC3E}">
        <p14:creationId xmlns:p14="http://schemas.microsoft.com/office/powerpoint/2010/main" val="1740606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2026-04-25T12:12:08.4290000Z</dcterms:created>
  <dcterms:modified xsi:type="dcterms:W3CDTF">2026-04-25T12:12:08.4290000Z</dcterms:modified>
</coreProperties>
</file>